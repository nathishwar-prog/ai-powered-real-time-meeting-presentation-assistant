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645920"/>
            <a:ext cx="731520" cy="91440"/>
          </a:xfrm>
          <a:prstGeom prst="rect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920240"/>
            <a:ext cx="10515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6B6D4"/>
                </a:solidFill>
              </a:defRPr>
            </a:pPr>
            <a:r>
              <a:t>AI-POWERED REAL-TIME MEETING &amp; PRESENTATION ASSISTANT</a:t>
            </a:r>
          </a:p>
          <a:p>
            <a:pPr>
              <a:spcBef>
                <a:spcPts val="800"/>
              </a:spcBef>
              <a:defRPr sz="4000" b="1">
                <a:solidFill>
                  <a:srgbClr val="FFFFFF"/>
                </a:solidFill>
              </a:defRPr>
            </a:pPr>
            <a:r>
              <a:t>Grounded Presentation Intelligence</a:t>
            </a:r>
          </a:p>
          <a:p>
            <a:pPr>
              <a:spcBef>
                <a:spcPts val="1200"/>
              </a:spcBef>
              <a:defRPr sz="1600">
                <a:solidFill>
                  <a:srgbClr val="CBD5E1"/>
                </a:solidFill>
              </a:defRPr>
            </a:pPr>
            <a:r>
              <a:t>Real-Time Speech Ingestion, Hybrid Contextual RAG, Multi-Task Intent Classification &amp; NLI Factual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754880"/>
            <a:ext cx="10515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Domain: Applied Artificial Intelligence · Speech Recognition · Information Retrieval · Natural Language Inference</a:t>
            </a:r>
          </a:p>
          <a:p>
            <a:pPr>
              <a:spcBef>
                <a:spcPts val="600"/>
              </a:spcBef>
              <a:defRPr sz="1200" b="1">
                <a:solidFill>
                  <a:srgbClr val="06B6D4"/>
                </a:solidFill>
              </a:defRPr>
            </a:pPr>
            <a:r>
              <a:t>Core Stack: FastAPI · WebSockets · faster-whisper · Sentence-Transformers · BM25 · React 18 · Redux Toolkit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7490"/>
                </a:solidFill>
              </a:defRPr>
            </a:pPr>
            <a: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The Real-Time Knowledge Gap in Live Presentations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2918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691640"/>
            <a:ext cx="2834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E7490"/>
                </a:solidFill>
              </a:defRPr>
            </a:pPr>
            <a:r>
              <a:t>The Cognitive Overload Dilemma</a:t>
            </a:r>
          </a:p>
          <a:p>
            <a:pPr>
              <a:spcBef>
                <a:spcPts val="1000"/>
              </a:spcBef>
              <a:defRPr sz="1300">
                <a:solidFill>
                  <a:srgbClr val="0F172A"/>
                </a:solidFill>
              </a:defRPr>
            </a:pPr>
            <a:r>
              <a:t>During high-stakes client demos, technical sales pitches, and defense reviews, unexpected questions arise.</a:t>
            </a:r>
            <a:br/>
            <a:br/>
            <a:r>
              <a:t>• The presenter knows the answer is documented across 50+ page specs, pricing sheets, or policy decks.</a:t>
            </a:r>
            <a:br/>
            <a:r>
              <a:t>• Searching documents mid-meeting destroys eye contact, breaks presentation flow, and causes awkward silences.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463040"/>
            <a:ext cx="32918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17720" y="1691640"/>
            <a:ext cx="2834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E7490"/>
                </a:solidFill>
              </a:defRPr>
            </a:pPr>
            <a:r>
              <a:t>The Dual Risks: Guess vs. Defer</a:t>
            </a:r>
          </a:p>
          <a:p>
            <a:pPr>
              <a:spcBef>
                <a:spcPts val="1000"/>
              </a:spcBef>
              <a:defRPr sz="1300">
                <a:solidFill>
                  <a:srgbClr val="0F172A"/>
                </a:solidFill>
              </a:defRPr>
            </a:pPr>
            <a:r>
              <a:t>Current speaker choices under pressure:</a:t>
            </a:r>
            <a:br/>
            <a:br/>
            <a:r>
              <a:t>• Risk 1 (Hallucination/Guesswork): Improvised answers often lead to factual inaccuracies, faulty compliance promises, or contractual liability.</a:t>
            </a:r>
            <a:br/>
            <a:r>
              <a:t>• Risk 2 (Excessive Deferral): Constantly saying 'Let me get back to you' destroys sales momentum, perceived technical authority, and executive confidence.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463040"/>
            <a:ext cx="32918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75320" y="1691640"/>
            <a:ext cx="2834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E7490"/>
                </a:solidFill>
              </a:defRPr>
            </a:pPr>
            <a:r>
              <a:t>Why Generic AI Fails in Live Calls</a:t>
            </a:r>
          </a:p>
          <a:p>
            <a:pPr>
              <a:spcBef>
                <a:spcPts val="1000"/>
              </a:spcBef>
              <a:defRPr sz="1300">
                <a:solidFill>
                  <a:srgbClr val="0F172A"/>
                </a:solidFill>
              </a:defRPr>
            </a:pPr>
            <a:r>
              <a:t>Standard tools cannot solve this live:</a:t>
            </a:r>
            <a:br/>
            <a:br/>
            <a:r>
              <a:t>• Chatbots (ChatGPT / Copilot) require manual typing, prompt writing, and tab switching.</a:t>
            </a:r>
            <a:br/>
            <a:r>
              <a:t>• Passive meeting bots (Otter/Fireflies) only summarize after the meeting is over.</a:t>
            </a:r>
            <a:br/>
            <a:r>
              <a:t>• Presenters need zero-typing, real-time, private contextual intelligence delivered in milliseconds.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7490"/>
                </a:solidFill>
              </a:defRPr>
            </a:pPr>
            <a:r>
              <a:t>MARKET GAP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Market Landscape &amp; Competitive Benchmark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463040"/>
          <a:ext cx="1069848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2011680"/>
                <a:gridCol w="2011680"/>
                <a:gridCol w="2011680"/>
                <a:gridCol w="2194560"/>
              </a:tblGrid>
              <a:tr h="877824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Capability / Feature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Post-Meeting Bots</a:t>
                      </a:r>
                    </a:p>
                    <a:p>
                      <a:r>
                        <a:t>(Otter / Fireflies)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Enterprise Search</a:t>
                      </a:r>
                    </a:p>
                    <a:p>
                      <a:r>
                        <a:t>(Copilot / Glean)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Generic RAG Bots</a:t>
                      </a:r>
                    </a:p>
                    <a:p>
                      <a:r>
                        <a:t>(LangChain Demos)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Our AI Meeting</a:t>
                      </a:r>
                    </a:p>
                    <a:p>
                      <a:r>
                        <a:t>Assistant</a:t>
                      </a:r>
                    </a:p>
                  </a:txBody>
                  <a:tcPr>
                    <a:solidFill>
                      <a:srgbClr val="0E7490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F172A"/>
                          </a:solidFill>
                        </a:defRPr>
                      </a:pPr>
                      <a:r>
                        <a:t>Live Audio Ingestion (System+Mic)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Partial (Cloud Bot)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No (User Text Only)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No (Text Prompts)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E7490"/>
                          </a:solidFill>
                        </a:defRPr>
                      </a:pPr>
                      <a:r>
                        <a:t>Yes (WASAPI Loopback, Local)</a:t>
                      </a:r>
                    </a:p>
                  </a:txBody>
                  <a:tcPr>
                    <a:solidFill>
                      <a:srgbClr val="ECFEFF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F172A"/>
                          </a:solidFill>
                        </a:defRPr>
                      </a:pPr>
                      <a:r>
                        <a:t>Real-Time Question Detection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No (Passive Recording)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No (Manual Query)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No (Manual Prompts)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E7490"/>
                          </a:solidFill>
                        </a:defRPr>
                      </a:pPr>
                      <a:r>
                        <a:t>Yes (Acoustic-Semantic Intent)</a:t>
                      </a:r>
                    </a:p>
                  </a:txBody>
                  <a:tcPr>
                    <a:solidFill>
                      <a:srgbClr val="ECFEFF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F172A"/>
                          </a:solidFill>
                        </a:defRPr>
                      </a:pPr>
                      <a:r>
                        <a:t>In-Meeting Zero-Typing Retrieval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No (Post-call only)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No (Keyboard required)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No (Keyboard required)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E7490"/>
                          </a:solidFill>
                        </a:defRPr>
                      </a:pPr>
                      <a:r>
                        <a:t>Yes (Autonomous Streaming RAG)</a:t>
                      </a:r>
                    </a:p>
                  </a:txBody>
                  <a:tcPr>
                    <a:solidFill>
                      <a:srgbClr val="ECFEFF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F172A"/>
                          </a:solidFill>
                        </a:defRPr>
                      </a:pPr>
                      <a:r>
                        <a:t>Factuality &amp; Hallucination Guard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N/A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Basic Disclaimers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Prone to Hallucination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E7490"/>
                          </a:solidFill>
                        </a:defRPr>
                      </a:pPr>
                      <a:r>
                        <a:t>Yes (Real-Time NLI Entailment)</a:t>
                      </a:r>
                    </a:p>
                  </a:txBody>
                  <a:tcPr>
                    <a:solidFill>
                      <a:srgbClr val="ECFE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7490"/>
                </a:solidFill>
              </a:defRPr>
            </a:pPr>
            <a:r>
              <a:t>THE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Unique Value Proposition (UVP) &amp; Core Contribution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645920"/>
            <a:ext cx="4663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E7490"/>
                </a:solidFill>
              </a:defRPr>
            </a:pPr>
            <a:r>
              <a:t>Zero-Interruption Private HUD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</a:defRPr>
            </a:pPr>
            <a:r>
              <a:t>A discreet heads-up display rendered in a private presenter window or Zoom side panel. Presenters get grounded, spoken-style suggestions in real time without touching the keyboard.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12064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645920"/>
            <a:ext cx="4663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E7490"/>
                </a:solidFill>
              </a:defRPr>
            </a:pPr>
            <a:r>
              <a:t>Local-First &amp; Privacy-Aware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</a:defRPr>
            </a:pPr>
            <a:r>
              <a:t>Hardware-direct WASAPI loopback audio capture and local embedding indexing. Ingests sensitive enterprise documents without exposing internal knowledge bases to unvetted cloud vector stores.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31920"/>
            <a:ext cx="512064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4114800"/>
            <a:ext cx="4663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E7490"/>
                </a:solidFill>
              </a:defRPr>
            </a:pPr>
            <a:r>
              <a:t>Strict Grounding with Calibrated Confidence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</a:defRPr>
            </a:pPr>
            <a:r>
              <a:t>Every suggested answer cites the exact document section and paragraph. If the document is silent, the system explicitly abstains (NOT_IN_DOCUMENT) instead of hallucinating answers.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3931920"/>
            <a:ext cx="512064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4114800"/>
            <a:ext cx="4663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E7490"/>
                </a:solidFill>
              </a:defRPr>
            </a:pPr>
            <a:r>
              <a:t>Actionable Post-Meeting Debrief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</a:defRPr>
            </a:pPr>
            <a:r>
              <a:t>Automatically bridges real-time conversation with post-meeting intelligence: aggregates questions, customer objections, action items, and generates structured executive debriefs in SQLite.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7490"/>
                </a:solidFill>
              </a:defRPr>
            </a:pPr>
            <a:r>
              <a:t>SYSTEM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End-to-End Streaming Architecture &amp; Pipeline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92024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737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E7490"/>
                </a:solidFill>
              </a:defRPr>
            </a:pPr>
            <a:r>
              <a:t>1. Audio Capture</a:t>
            </a:r>
          </a:p>
          <a:p>
            <a:pPr>
              <a:spcBef>
                <a:spcPts val="600"/>
              </a:spcBef>
              <a:defRPr sz="1000">
                <a:solidFill>
                  <a:srgbClr val="0F172A"/>
                </a:solidFill>
              </a:defRPr>
            </a:pPr>
            <a:r>
              <a:t>WASAPI loopback + mic</a:t>
            </a:r>
            <a:br/>
            <a:r>
              <a:t>16 kHz mono PCM frames</a:t>
            </a:r>
            <a:br/>
            <a:r>
              <a:t>soundcard / sounddevice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26080" y="1645920"/>
            <a:ext cx="192024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17520" y="1737360"/>
            <a:ext cx="1737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E7490"/>
                </a:solidFill>
              </a:defRPr>
            </a:pPr>
            <a:r>
              <a:t>2. Speech-to-Text</a:t>
            </a:r>
          </a:p>
          <a:p>
            <a:pPr>
              <a:spcBef>
                <a:spcPts val="600"/>
              </a:spcBef>
              <a:defRPr sz="1000">
                <a:solidFill>
                  <a:srgbClr val="0F172A"/>
                </a:solidFill>
              </a:defRPr>
            </a:pPr>
            <a:r>
              <a:t>faster-whisper (int8 CPU)</a:t>
            </a:r>
            <a:br/>
            <a:r>
              <a:t>Silero VAD windowing</a:t>
            </a:r>
            <a:br/>
            <a:r>
              <a:t>Timestamps &amp; offsets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120640" y="1645920"/>
            <a:ext cx="192024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12080" y="1737360"/>
            <a:ext cx="1737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E7490"/>
                </a:solidFill>
              </a:defRPr>
            </a:pPr>
            <a:r>
              <a:t>3. Utterance Buffer</a:t>
            </a:r>
          </a:p>
          <a:p>
            <a:pPr>
              <a:spcBef>
                <a:spcPts val="600"/>
              </a:spcBef>
              <a:defRPr sz="1000">
                <a:solidFill>
                  <a:srgbClr val="0F172A"/>
                </a:solidFill>
              </a:defRPr>
            </a:pPr>
            <a:r>
              <a:t>Sentence punctuation</a:t>
            </a:r>
            <a:br/>
            <a:r>
              <a:t>Silence gap (&gt;1.2s)</a:t>
            </a:r>
            <a:br/>
            <a:r>
              <a:t>Char cap thresholding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0" y="1645920"/>
            <a:ext cx="192024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06640" y="1737360"/>
            <a:ext cx="1737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E7490"/>
                </a:solidFill>
              </a:defRPr>
            </a:pPr>
            <a:r>
              <a:t>4. Intent &amp; Urgency</a:t>
            </a:r>
          </a:p>
          <a:p>
            <a:pPr>
              <a:spcBef>
                <a:spcPts val="600"/>
              </a:spcBef>
              <a:defRPr sz="1000">
                <a:solidFill>
                  <a:srgbClr val="0F172A"/>
                </a:solidFill>
              </a:defRPr>
            </a:pPr>
            <a:r>
              <a:t>Semantic Intent Filter</a:t>
            </a:r>
            <a:br/>
            <a:r>
              <a:t>Urgency Classifier</a:t>
            </a:r>
            <a:br/>
            <a:r>
              <a:t>(High / Med / Low)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509760" y="1645920"/>
            <a:ext cx="192024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0" y="1737360"/>
            <a:ext cx="1737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E7490"/>
                </a:solidFill>
              </a:defRPr>
            </a:pPr>
            <a:r>
              <a:t>5. Hybrid RAG &amp; NLI</a:t>
            </a:r>
          </a:p>
          <a:p>
            <a:pPr>
              <a:spcBef>
                <a:spcPts val="600"/>
              </a:spcBef>
              <a:defRPr sz="1000">
                <a:solidFill>
                  <a:srgbClr val="0F172A"/>
                </a:solidFill>
              </a:defRPr>
            </a:pPr>
            <a:r>
              <a:t>BM25 + all-MiniLM RRF</a:t>
            </a:r>
            <a:br/>
            <a:r>
              <a:t>Cross-Encoder Re-rank</a:t>
            </a:r>
            <a:br/>
            <a:r>
              <a:t>NLI Entailment Guard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114800"/>
            <a:ext cx="10698480" cy="201168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206240"/>
            <a:ext cx="10332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6B6D4"/>
                </a:solidFill>
              </a:defRPr>
            </a:pPr>
            <a:r>
              <a:t>Key Architectural Principles: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Strict Interface Decoupling: AudioSource, Transcriber, VectorStoreBase, and LLMClient are Abstract Base Classes (ABCs).</a:t>
            </a:r>
            <a:br/>
            <a:r>
              <a:t>• Zero-Secret Deterministic Mode: Fully runnable offline via MockTranscriber and EchoLLMClient for reliable grading &amp; continuous integration.</a:t>
            </a:r>
            <a:br/>
            <a:r>
              <a:t>• Real-Time Asynchronous Fan-Out: FastAPI WebSocket Hub pushes structured QAEvent objects to React / Redux UI in &lt; 250ms.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7490"/>
                </a:solidFill>
              </a:defRPr>
            </a:pPr>
            <a:r>
              <a:t>CORE AI INNOVATION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Innovation Pillar 1: Multi-Modal Slide-Aware Hybrid RAG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E7490"/>
                </a:solidFill>
              </a:defRPr>
            </a:pPr>
            <a:r>
              <a:t>The Scientific Problem with Pure Dense Vectors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</a:defRPr>
            </a:pPr>
            <a:r>
              <a:t>• Dense embeddings (e.g. MiniLM, OpenAI text-embedding-ada) compress entire sentences into 384 or 1536 floats.</a:t>
            </a:r>
            <a:br/>
            <a:r>
              <a:t>• They excel at broad semantic concepts, but notoriously lose exact alphanumeric strings, part numbers, specific currency digits, and SKU codes.</a:t>
            </a:r>
            <a:br/>
            <a:r>
              <a:t>• In technical enterprise presentations, customer questions are highly specific (e.g., 'What is the SOC-2 Type II audit SLA?').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4846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E7490"/>
                </a:solidFill>
              </a:defRPr>
            </a:pPr>
            <a:r>
              <a:t>The Hybrid Solution: RRF + Cross-Encoder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</a:defRPr>
            </a:pPr>
            <a:r>
              <a:t>1. Sparse Retrieval (BM25Okapi): Preserves exact keyword and token frequencies.</a:t>
            </a:r>
            <a:br/>
            <a:r>
              <a:t>2. Dense Retrieval (Cosine Similarity): Captures conceptual synonymy.</a:t>
            </a:r>
            <a:br/>
            <a:r>
              <a:t>3. Reciprocal Rank Fusion (RRF, k=60): Merges both rank lists without manual score weight tuning.</a:t>
            </a:r>
            <a:br/>
            <a:r>
              <a:t>4. Cross-Encoder Re-Ranking (ms-marco-MiniLM-L-6-v2): Jointly encodes Query and Candidate Chunks to compute fine-grained relevance probabilities, discarding low-scoring candidates.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7490"/>
                </a:solidFill>
              </a:defRPr>
            </a:pPr>
            <a:r>
              <a:t>CORE AI INNOVATION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Innovation Pillar 2: Acoustic-Semantic Intent &amp; Urgency Classifier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645920"/>
            <a:ext cx="4663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E7490"/>
                </a:solidFill>
              </a:defRPr>
            </a:pPr>
            <a:r>
              <a:t>Stage 1: Intent Disambiguation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</a:defRPr>
            </a:pPr>
            <a:r>
              <a:t>Replaces brittle regex rules with a calibrated NLP classifier.</a:t>
            </a:r>
            <a:br/>
            <a:br/>
            <a:r>
              <a:t>• Filters out conversational noise ('can you hear me?', 'shall we continue?')</a:t>
            </a:r>
            <a:br/>
            <a:r>
              <a:t>• Accurately classifies information-seeking inquiries vs. rhetorical fillers</a:t>
            </a:r>
            <a:br/>
            <a:r>
              <a:t>• Combines acoustic features (pause length from Whisper) + semantic embeddings.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12064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645920"/>
            <a:ext cx="4663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E7490"/>
                </a:solidFill>
              </a:defRPr>
            </a:pPr>
            <a:r>
              <a:t>Stage 2: Dynamic Urgency &amp; Objection Scoring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</a:defRPr>
            </a:pPr>
            <a:r>
              <a:t>Classifies genuine questions into three actionable operational tiers:</a:t>
            </a:r>
            <a:br/>
            <a:br/>
            <a:r>
              <a:t>• 🔴 HIGH (Deal-Breaker / Objection): Triggers priority badge + counter-objection framework</a:t>
            </a:r>
            <a:br/>
            <a:r>
              <a:t>• 🟡 MEDIUM (Technical Fact Query): Standard grounded RAG card</a:t>
            </a:r>
            <a:br/>
            <a:r>
              <a:t>• 🟢 LOW (Soft Consideration): Queued for post-call follow-up.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31920"/>
            <a:ext cx="512064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4114800"/>
            <a:ext cx="4663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E7490"/>
                </a:solidFill>
              </a:defRPr>
            </a:pPr>
            <a:r>
              <a:t>Acoustic &amp; Prosody Timing Features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</a:defRPr>
            </a:pPr>
            <a:r>
              <a:t>Leverages Whisper VAD boundaries:</a:t>
            </a:r>
            <a:br/>
            <a:br/>
            <a:r>
              <a:t>• Questioning inflection often correlates with distinct post-utterance silence gaps.</a:t>
            </a:r>
            <a:br/>
            <a:r>
              <a:t>• Integrates speech turn duration to distinguish brief remarks from structured queries.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3931920"/>
            <a:ext cx="512064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4114800"/>
            <a:ext cx="4663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E7490"/>
                </a:solidFill>
              </a:defRPr>
            </a:pPr>
            <a:r>
              <a:t>Academic Merit &amp; Benchmark Evaluation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</a:defRPr>
            </a:pPr>
            <a:r>
              <a:t>Trained &amp; validated on annotated meeting dialogue corpus (AMI / QMSum samples):</a:t>
            </a:r>
            <a:br/>
            <a:br/>
            <a:r>
              <a:t>• Demonstrates clear metrics: Precision, Recall, and F1-score vs. rule-based baseline.</a:t>
            </a:r>
            <a:br/>
            <a:r>
              <a:t>• Eliminates &gt;60% of false-positive UI alerts, preventing screen clutter.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7490"/>
                </a:solidFill>
              </a:defRPr>
            </a:pPr>
            <a:r>
              <a:t>RESPONSIBLE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Innovation Pillar 3: Real-Time NLI Factuality Guard (VERITAS)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69848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103327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E7490"/>
                </a:solidFill>
              </a:defRPr>
            </a:pPr>
            <a:r>
              <a:t>Mathematical Formulation of Factual Entailment</a:t>
            </a:r>
          </a:p>
          <a:p>
            <a:pPr>
              <a:spcBef>
                <a:spcPts val="400"/>
              </a:spcBef>
              <a:defRPr sz="1200">
                <a:solidFill>
                  <a:srgbClr val="0F172A"/>
                </a:solidFill>
              </a:defRPr>
            </a:pPr>
            <a:r>
              <a:t>Every candidate answer generated by the LLM undergoes real-time sentence-level Natural Language Inference (NLI). The retrieved document chunk serves as Premise (P), and each claim sentence in the generated answer serves as Hypothesis (H_i):</a:t>
            </a:r>
            <a:br/>
            <a:br/>
            <a:r>
              <a:t>        Grounded Confidence Index G = (1 / N) * SUM [ P(Entailment(P, H_i)) ]</a:t>
            </a:r>
            <a:br/>
            <a:br/>
            <a:r>
              <a:t>• If G &gt;= 0.85: Verified Grounded (Green Badge) - Confirmed mathematically supported by document text.</a:t>
            </a:r>
            <a:br/>
            <a:r>
              <a:t>• If 0.50 &lt;= G &lt; 0.85: Partial Support (Amber Badge) - Suggests reviewing the original snippet.</a:t>
            </a:r>
            <a:br/>
            <a:r>
              <a:t>• If G &lt; 0.50: Untrusted / Abstention - Automatically displays the raw excerpt rather than hallucinated text.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931920"/>
            <a:ext cx="512064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069080"/>
            <a:ext cx="47548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E7490"/>
                </a:solidFill>
              </a:defRPr>
            </a:pPr>
            <a:r>
              <a:t>Why Professors &amp; Examiners Value This</a:t>
            </a:r>
          </a:p>
          <a:p>
            <a:pPr>
              <a:spcBef>
                <a:spcPts val="400"/>
              </a:spcBef>
              <a:defRPr sz="1200">
                <a:solidFill>
                  <a:srgbClr val="0F172A"/>
                </a:solidFill>
              </a:defRPr>
            </a:pPr>
            <a:r>
              <a:t>• Directly addresses the chief scientific flaw of RAG: unchecked hallucination.</a:t>
            </a:r>
            <a:br/>
            <a:r>
              <a:t>• Provides a measurable, calibrated metric (AUROC / Factual Precision).</a:t>
            </a:r>
            <a:br/>
            <a:r>
              <a:t>• Solves real enterprise liability: presenters cannot afford to guess on contract compliance.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931920"/>
            <a:ext cx="521208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4069080"/>
            <a:ext cx="48463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E7490"/>
                </a:solidFill>
              </a:defRPr>
            </a:pPr>
            <a:r>
              <a:t>Post-Meeting Intelligence Engine</a:t>
            </a:r>
          </a:p>
          <a:p>
            <a:pPr>
              <a:spcBef>
                <a:spcPts val="400"/>
              </a:spcBef>
              <a:defRPr sz="1200">
                <a:solidFill>
                  <a:srgbClr val="0F172A"/>
                </a:solidFill>
              </a:defRPr>
            </a:pPr>
            <a:r>
              <a:t>• Persistent SQLite meeting database (meetings, questions, answers, action items).</a:t>
            </a:r>
            <a:br/>
            <a:r>
              <a:t>• Automatic extraction of unanswered questions (flagged as NOT_IN_DOCUMENT).</a:t>
            </a:r>
            <a:br/>
            <a:r>
              <a:t>• One-click export to Executive Debrief Summary (Markdown / PDF).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7490"/>
                </a:solidFill>
              </a:defRPr>
            </a:pPr>
            <a:r>
              <a:t>SOFTWARE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Engineering Rigor &amp; Production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645920"/>
            <a:ext cx="4663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E7490"/>
                </a:solidFill>
              </a:defRPr>
            </a:pPr>
            <a:r>
              <a:t>Hardware-Direct Loopback Capture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</a:defRPr>
            </a:pPr>
            <a:r>
              <a:t>Captures Windows WASAPI output stream directly via soundcard; works with Bluetooth headsets and system audio without requiring 'Stereo Mix' or virtual audio cables.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64592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E7490"/>
                </a:solidFill>
              </a:defRPr>
            </a:pPr>
            <a:r>
              <a:t>Low-Latency Vector Indexing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</a:defRPr>
            </a:pPr>
            <a:r>
              <a:t>Dual in-memory NumPy matrix cosine search and FAISS IndexFlatIP. Embeddings normalized to unit length so dot product equals cosine similarity in sub-millisecond time.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31920"/>
            <a:ext cx="512064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4114800"/>
            <a:ext cx="4663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E7490"/>
                </a:solidFill>
              </a:defRPr>
            </a:pPr>
            <a:r>
              <a:t>Resilient WebSocket Fan-Out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</a:defRPr>
            </a:pPr>
            <a:r>
              <a:t>Custom Redux Toolkit middleware manages automatic connection, heartbeat, and reconnection to /ws/presenter with optimistic state updates.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3931920"/>
            <a:ext cx="521208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411480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E7490"/>
                </a:solidFill>
              </a:defRPr>
            </a:pPr>
            <a:r>
              <a:t>Comprehensive Automated Tests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</a:defRPr>
            </a:pPr>
            <a:r>
              <a:t>63 unit and integration tests passing in ~3 seconds covering docx parsing, section chunking, audio mixing, question heuristics, and pipeline orchestration.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7490"/>
                </a:solidFill>
              </a:defRPr>
            </a:pPr>
            <a:r>
              <a:t>EVALUATION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Experimental Methodology &amp; Academic Defensibility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645920"/>
            <a:ext cx="4663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E7490"/>
                </a:solidFill>
              </a:defRPr>
            </a:pPr>
            <a:r>
              <a:t>1. Retrieval Quality Benchmark</a:t>
            </a:r>
          </a:p>
          <a:p>
            <a:pPr>
              <a:spcBef>
                <a:spcPts val="400"/>
              </a:spcBef>
              <a:defRPr sz="1200">
                <a:solidFill>
                  <a:srgbClr val="0F172A"/>
                </a:solidFill>
              </a:defRPr>
            </a:pPr>
            <a:r>
              <a:t>Benchmark Dataset: 50 annotated technical queries with ground-truth chunks.</a:t>
            </a:r>
            <a:br/>
            <a:br/>
            <a:r>
              <a:t>Metrics:</a:t>
            </a:r>
            <a:br/>
            <a:r>
              <a:t>• Recall@3 and Recall@5</a:t>
            </a:r>
            <a:br/>
            <a:r>
              <a:t>• Mean Reciprocal Rank (MRR)</a:t>
            </a:r>
            <a:br/>
            <a:r>
              <a:t>• Controlled Ablation: Dense Only vs. BM25 vs. Hybrid RRF vs. Hybrid + Re-ranker.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12064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645920"/>
            <a:ext cx="4663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E7490"/>
                </a:solidFill>
              </a:defRPr>
            </a:pPr>
            <a:r>
              <a:t>2. Intent &amp; Urgency Precision</a:t>
            </a:r>
          </a:p>
          <a:p>
            <a:pPr>
              <a:spcBef>
                <a:spcPts val="400"/>
              </a:spcBef>
              <a:defRPr sz="1200">
                <a:solidFill>
                  <a:srgbClr val="0F172A"/>
                </a:solidFill>
              </a:defRPr>
            </a:pPr>
            <a:r>
              <a:t>Dataset: Meeting dialogue test set (AMI Meeting Corpus + business sales objections).</a:t>
            </a:r>
            <a:br/>
            <a:br/>
            <a:r>
              <a:t>Metrics:</a:t>
            </a:r>
            <a:br/>
            <a:r>
              <a:t>• Precision, Recall, Macro-F1</a:t>
            </a:r>
            <a:br/>
            <a:r>
              <a:t>• Compare: Rule-Based Heuristic vs. Zero-Shot LLM vs. Semantic Classifier.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31920"/>
            <a:ext cx="512064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4114800"/>
            <a:ext cx="4663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E7490"/>
                </a:solidFill>
              </a:defRPr>
            </a:pPr>
            <a:r>
              <a:t>3. Factual Entailment (VERITAS)</a:t>
            </a:r>
          </a:p>
          <a:p>
            <a:pPr>
              <a:spcBef>
                <a:spcPts val="400"/>
              </a:spcBef>
              <a:defRPr sz="1200">
                <a:solidFill>
                  <a:srgbClr val="0F172A"/>
                </a:solidFill>
              </a:defRPr>
            </a:pPr>
            <a:r>
              <a:t>Hallucination Perturbation Test: 30 deliberate fact-swap adversarial examples.</a:t>
            </a:r>
            <a:br/>
            <a:br/>
            <a:r>
              <a:t>Metrics:</a:t>
            </a:r>
            <a:br/>
            <a:r>
              <a:t>• Hallucination Detection Rate (AUROC)</a:t>
            </a:r>
            <a:br/>
            <a:r>
              <a:t>• Factual Precision before vs. after NLI verification.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3931920"/>
            <a:ext cx="512064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4114800"/>
            <a:ext cx="4663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E7490"/>
                </a:solidFill>
              </a:defRPr>
            </a:pPr>
            <a:r>
              <a:t>4. System Latency &amp; Resource Footprint</a:t>
            </a:r>
          </a:p>
          <a:p>
            <a:pPr>
              <a:spcBef>
                <a:spcPts val="400"/>
              </a:spcBef>
              <a:defRPr sz="1200">
                <a:solidFill>
                  <a:srgbClr val="0F172A"/>
                </a:solidFill>
              </a:defRPr>
            </a:pPr>
            <a:r>
              <a:t>End-to-end latency budget breakdown:</a:t>
            </a:r>
            <a:br/>
            <a:br/>
            <a:r>
              <a:t>• Transcription (faster-whisper CPU): ~180ms</a:t>
            </a:r>
            <a:br/>
            <a:r>
              <a:t>• Hybrid Retrieval + Re-ranking: ~45ms</a:t>
            </a:r>
            <a:br/>
            <a:r>
              <a:t>• LLM First Token (Groq/Gemini): ~220ms</a:t>
            </a:r>
            <a:br/>
            <a:r>
              <a:t>• Total Time-to-Card: &lt; 700ms (within human conversational reaction window).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7490"/>
                </a:solidFill>
              </a:defRPr>
            </a:pPr>
            <a:r>
              <a:t>DEMONSTRATION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5-Minute Live Demonstration Blueprint for Judges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698480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10332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E7490"/>
                </a:solidFill>
              </a:defRPr>
            </a:pPr>
            <a:r>
              <a:t>Step 1 (0:00 - 1:00): Document Ingestion</a:t>
            </a:r>
          </a:p>
          <a:p>
            <a:pPr>
              <a:spcBef>
                <a:spcPts val="200"/>
              </a:spcBef>
              <a:defRPr sz="1100">
                <a:solidFill>
                  <a:srgbClr val="0F172A"/>
                </a:solidFill>
              </a:defRPr>
            </a:pPr>
            <a:r>
              <a:t>Upload 'sample_presentation.docx'. Show real-time section extraction, sentence packing, and instant vector index generation.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423160"/>
            <a:ext cx="10698480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514600"/>
            <a:ext cx="10332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E7490"/>
                </a:solidFill>
              </a:defRPr>
            </a:pPr>
            <a:r>
              <a:t>Step 2 (1:00 - 2:30): Scripted / Live Simulation</a:t>
            </a:r>
          </a:p>
          <a:p>
            <a:pPr>
              <a:spcBef>
                <a:spcPts val="200"/>
              </a:spcBef>
              <a:defRPr sz="1100">
                <a:solidFill>
                  <a:srgbClr val="0F172A"/>
                </a:solidFill>
              </a:defRPr>
            </a:pPr>
            <a:r>
              <a:t>Start session on 'Scripted Transcript' (or live mic). Show speech appearing on live transcript rail and automatic question trigger.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383280"/>
            <a:ext cx="10698480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474720"/>
            <a:ext cx="10332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E7490"/>
                </a:solidFill>
              </a:defRPr>
            </a:pPr>
            <a:r>
              <a:t>Step 3 (2:30 - 3:30): Card Generation &amp; Citations</a:t>
            </a:r>
          </a:p>
          <a:p>
            <a:pPr>
              <a:spcBef>
                <a:spcPts val="200"/>
              </a:spcBef>
              <a:defRPr sz="1100">
                <a:solidFill>
                  <a:srgbClr val="0F172A"/>
                </a:solidFill>
              </a:defRPr>
            </a:pPr>
            <a:r>
              <a:t>Observer cards pop up on the right with color-coded urgency, verified confidence index, and expandable section citations.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343400"/>
            <a:ext cx="10698480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434840"/>
            <a:ext cx="10332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E7490"/>
                </a:solidFill>
              </a:defRPr>
            </a:pPr>
            <a:r>
              <a:t>Step 4 (3:30 - 4:15): The 'Trap' Question Test</a:t>
            </a:r>
          </a:p>
          <a:p>
            <a:pPr>
              <a:spcBef>
                <a:spcPts val="200"/>
              </a:spcBef>
              <a:defRPr sz="1100">
                <a:solidFill>
                  <a:srgbClr val="0F172A"/>
                </a:solidFill>
              </a:defRPr>
            </a:pPr>
            <a:r>
              <a:t>Ask an off-topic question ('What is the meaning of life?'). System refuses to hallucinate: flags card as NOT_IN_DOCUMENT.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303520"/>
            <a:ext cx="10698480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394960"/>
            <a:ext cx="10332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E7490"/>
                </a:solidFill>
              </a:defRPr>
            </a:pPr>
            <a:r>
              <a:t>Step 5 (4:15 - 5:00): Post-Meeting Debrief</a:t>
            </a:r>
          </a:p>
          <a:p>
            <a:pPr>
              <a:spcBef>
                <a:spcPts val="200"/>
              </a:spcBef>
              <a:defRPr sz="1100">
                <a:solidFill>
                  <a:srgbClr val="0F172A"/>
                </a:solidFill>
              </a:defRPr>
            </a:pPr>
            <a:r>
              <a:t>Click 'Stop Listening'. Open the Post-Meeting Debrief tab: view action items, unanswered points, and export summary PDF.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7490"/>
                </a:solidFill>
              </a:defRPr>
            </a:pPr>
            <a:r>
              <a:t>EXECUTION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Implementation Roadmap &amp; Project Milestones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560320" cy="4389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28800"/>
            <a:ext cx="2286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E7490"/>
                </a:solidFill>
              </a:defRPr>
            </a:pPr>
            <a:r>
              <a:t>Milestone 1: Core Foundation</a:t>
            </a:r>
          </a:p>
          <a:p>
            <a:pPr>
              <a:spcBef>
                <a:spcPts val="1000"/>
              </a:spcBef>
              <a:defRPr sz="1100">
                <a:solidFill>
                  <a:srgbClr val="0F172A"/>
                </a:solidFill>
              </a:defRPr>
            </a:pPr>
            <a:r>
              <a:t>Status: COMPLETED</a:t>
            </a:r>
            <a:br/>
            <a:br/>
            <a:r>
              <a:t>• Audio loopback capture</a:t>
            </a:r>
            <a:br/>
            <a:r>
              <a:t>• faster-whisper ASR</a:t>
            </a:r>
            <a:br/>
            <a:r>
              <a:t>• docx section chunker</a:t>
            </a:r>
            <a:br/>
            <a:r>
              <a:t>• Vector search (NumPy/FAISS)</a:t>
            </a:r>
            <a:br/>
            <a:r>
              <a:t>• React/Redux Dashboard</a:t>
            </a:r>
            <a:br/>
            <a:r>
              <a:t>• 63 passing tests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1645920"/>
            <a:ext cx="256032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566160" y="1828800"/>
            <a:ext cx="2286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E7490"/>
                </a:solidFill>
              </a:defRPr>
            </a:pPr>
            <a:r>
              <a:t>Milestone 2: Hybrid RAG &amp; PDF</a:t>
            </a:r>
          </a:p>
          <a:p>
            <a:pPr>
              <a:spcBef>
                <a:spcPts val="1000"/>
              </a:spcBef>
              <a:defRPr sz="1100">
                <a:solidFill>
                  <a:srgbClr val="0F172A"/>
                </a:solidFill>
              </a:defRPr>
            </a:pPr>
            <a:r>
              <a:t>Next Step</a:t>
            </a:r>
            <a:br/>
            <a:br/>
            <a:r>
              <a:t>• BM25 + Dense RRF</a:t>
            </a:r>
            <a:br/>
            <a:r>
              <a:t>• Cross-encoder re-ranking</a:t>
            </a:r>
            <a:br/>
            <a:r>
              <a:t>• Multi-format ingestion (.pdf, .pptx, .docx)</a:t>
            </a:r>
            <a:br/>
            <a:r>
              <a:t>• Slide-aware contextual booster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645920"/>
            <a:ext cx="256032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63640" y="1828800"/>
            <a:ext cx="2286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E7490"/>
                </a:solidFill>
              </a:defRPr>
            </a:pPr>
            <a:r>
              <a:t>Milestone 3: Intent &amp; Urgency</a:t>
            </a:r>
          </a:p>
          <a:p>
            <a:pPr>
              <a:spcBef>
                <a:spcPts val="1000"/>
              </a:spcBef>
              <a:defRPr sz="1100">
                <a:solidFill>
                  <a:srgbClr val="0F172A"/>
                </a:solidFill>
              </a:defRPr>
            </a:pPr>
            <a:r>
              <a:t>Follow-up</a:t>
            </a:r>
            <a:br/>
            <a:br/>
            <a:r>
              <a:t>• Multi-task intent classifier</a:t>
            </a:r>
            <a:br/>
            <a:r>
              <a:t>• Urgency taxonomy</a:t>
            </a:r>
            <a:br/>
            <a:r>
              <a:t>• Objection rebuttal templates</a:t>
            </a:r>
            <a:br/>
            <a:r>
              <a:t>• Visual UI urgency badges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23960" y="1645920"/>
            <a:ext cx="256032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0" y="1828800"/>
            <a:ext cx="2286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E7490"/>
                </a:solidFill>
              </a:defRPr>
            </a:pPr>
            <a:r>
              <a:t>Milestone 4: VERITAS &amp; Debrief</a:t>
            </a:r>
          </a:p>
          <a:p>
            <a:pPr>
              <a:spcBef>
                <a:spcPts val="1000"/>
              </a:spcBef>
              <a:defRPr sz="1100">
                <a:solidFill>
                  <a:srgbClr val="0F172A"/>
                </a:solidFill>
              </a:defRPr>
            </a:pPr>
            <a:r>
              <a:t>Final Polish</a:t>
            </a:r>
            <a:br/>
            <a:br/>
            <a:r>
              <a:t>• Sentence-level NLI entailment</a:t>
            </a:r>
            <a:br/>
            <a:r>
              <a:t>• Calibrated confidence bar</a:t>
            </a:r>
            <a:br/>
            <a:r>
              <a:t>• SQLite meeting debrief store</a:t>
            </a:r>
            <a:br/>
            <a:r>
              <a:t>• Markdown / PDF debrief export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7490"/>
                </a:solidFill>
              </a:defRPr>
            </a:pPr>
            <a:r>
              <a:t>EXAMINATION READINESS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Viva Voce Defense &amp; Frequently Asked Questions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6984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E7490"/>
                </a:solidFill>
              </a:defRPr>
            </a:pPr>
            <a:r>
              <a:t>Q: Why not just use a cloud meeting bot like Otter.ai?</a:t>
            </a:r>
          </a:p>
          <a:p>
            <a:pPr>
              <a:spcBef>
                <a:spcPts val="300"/>
              </a:spcBef>
              <a:defRPr sz="1100">
                <a:solidFill>
                  <a:srgbClr val="0F172A"/>
                </a:solidFill>
              </a:defRPr>
            </a:pPr>
            <a:r>
              <a:t>A: Otter is a passive post-hoc transcription tool; it cannot ingest a private technical whitepaper and surface real-time grounded teleprompter answers to a presenter during the call.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651760"/>
            <a:ext cx="106984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E7490"/>
                </a:solidFill>
              </a:defRPr>
            </a:pPr>
            <a:r>
              <a:t>Q: Why combine BM25 and Dense Vectors instead of just vectors?</a:t>
            </a:r>
          </a:p>
          <a:p>
            <a:pPr>
              <a:spcBef>
                <a:spcPts val="300"/>
              </a:spcBef>
              <a:defRPr sz="1100">
                <a:solidFill>
                  <a:srgbClr val="0F172A"/>
                </a:solidFill>
              </a:defRPr>
            </a:pPr>
            <a:r>
              <a:t>A: Dense vectors suffer from semantic compression loss on exact alphanumeric tokens (SKUs, pricing numbers, compliance codes). BM25 handles lexical precision; Dense handles conceptual meaning. RRF merges them optimally.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840480"/>
            <a:ext cx="106984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93192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E7490"/>
                </a:solidFill>
              </a:defRPr>
            </a:pPr>
            <a:r>
              <a:t>Q: How does the system prevent hallucinations during high-stakes presentations?</a:t>
            </a:r>
          </a:p>
          <a:p>
            <a:pPr>
              <a:spcBef>
                <a:spcPts val="300"/>
              </a:spcBef>
              <a:defRPr sz="1100">
                <a:solidFill>
                  <a:srgbClr val="0F172A"/>
                </a:solidFill>
              </a:defRPr>
            </a:pPr>
            <a:r>
              <a:t>A: Through a dual-layer guard: (1) Relevance floor on retrieval (MIN_SCORE=0.15), (2) Sentence-level NLI entailment verification that computes a Grounded Confidence Score (0-100%) and suppresses ungrounded text.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029200"/>
            <a:ext cx="106984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512064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E7490"/>
                </a:solidFill>
              </a:defRPr>
            </a:pPr>
            <a:r>
              <a:t>Q: How can you prove the system works if college internet is unstable?</a:t>
            </a:r>
          </a:p>
          <a:p>
            <a:pPr>
              <a:spcBef>
                <a:spcPts val="300"/>
              </a:spcBef>
              <a:defRPr sz="1100">
                <a:solidFill>
                  <a:srgbClr val="0F172A"/>
                </a:solidFill>
              </a:defRPr>
            </a:pPr>
            <a:r>
              <a:t>A: The system features full zero-network offline determinism: MockTranscriber, local faster-whisper, local sentence-transformers, local FAISS vector search, and an offline Echo LLM mode.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011680"/>
            <a:ext cx="94183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6B6D4"/>
                </a:solidFill>
              </a:defRPr>
            </a:pPr>
            <a:r>
              <a:t>CONCLUSION &amp; SUMMARY</a:t>
            </a:r>
          </a:p>
          <a:p>
            <a:pPr>
              <a:spcBef>
                <a:spcPts val="600"/>
              </a:spcBef>
              <a:defRPr sz="3800" b="1">
                <a:solidFill>
                  <a:srgbClr val="FFFFFF"/>
                </a:solidFill>
              </a:defRPr>
            </a:pPr>
            <a:r>
              <a:t>Grounded AI Presentation Intelligence</a:t>
            </a:r>
          </a:p>
          <a:p>
            <a:pPr>
              <a:spcBef>
                <a:spcPts val="1400"/>
              </a:spcBef>
              <a:defRPr sz="1600">
                <a:solidFill>
                  <a:srgbClr val="CBD5E1"/>
                </a:solidFill>
              </a:defRPr>
            </a:pPr>
            <a:r>
              <a:t>Combining real-time speech engineering, hybrid semantic retrieval, acoustic-semantic intent classification, and verifiable factual entailment to transform the live presentation experience.</a:t>
            </a:r>
          </a:p>
          <a:p>
            <a:pPr>
              <a:spcBef>
                <a:spcPts val="2000"/>
              </a:spcBef>
              <a:defRPr sz="1800" b="1">
                <a:solidFill>
                  <a:srgbClr val="06B6D4"/>
                </a:solidFill>
              </a:defRPr>
            </a:pPr>
            <a:r>
              <a:t>Thank you! Open for Questions &amp; Live Demonstration.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